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2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Nr. imagini (după balansare)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 DR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  <c:pt idx="4">
                  <c:v>Proliferative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</c:v>
                </c:pt>
                <c:pt idx="1">
                  <c:v>2438</c:v>
                </c:pt>
                <c:pt idx="2">
                  <c:v>4500</c:v>
                </c:pt>
                <c:pt idx="3">
                  <c:v>2616</c:v>
                </c:pt>
                <c:pt idx="4">
                  <c:v>2124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A7-4633-8311-275B6382A8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Accuracy</c:v>
                </c:pt>
              </c:strCache>
            </c:strRef>
          </c:tx>
          <c:spPr>
            <a:ln w="38100" cap="flat">
              <a:solidFill>
                <a:srgbClr val="0B7A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7A75"/>
              </a:solidFill>
              <a:ln w="9525" cap="flat">
                <a:solidFill>
                  <a:srgbClr val="0B7A75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27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0.21</c:v>
                </c:pt>
                <c:pt idx="1">
                  <c:v>0.35</c:v>
                </c:pt>
                <c:pt idx="2">
                  <c:v>0.44</c:v>
                </c:pt>
                <c:pt idx="3">
                  <c:v>0.47</c:v>
                </c:pt>
                <c:pt idx="4">
                  <c:v>0.49</c:v>
                </c:pt>
                <c:pt idx="5">
                  <c:v>0.52</c:v>
                </c:pt>
                <c:pt idx="6">
                  <c:v>0.53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FA9-4C45-A44D-CDA4B8A26A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27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0.24</c:v>
                </c:pt>
                <c:pt idx="1">
                  <c:v>0.37</c:v>
                </c:pt>
                <c:pt idx="2">
                  <c:v>0.42</c:v>
                </c:pt>
                <c:pt idx="3">
                  <c:v>0.46</c:v>
                </c:pt>
                <c:pt idx="4">
                  <c:v>0.47</c:v>
                </c:pt>
                <c:pt idx="5">
                  <c:v>0.47</c:v>
                </c:pt>
                <c:pt idx="6">
                  <c:v>0.47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FA9-4C45-A44D-CDA4B8A26A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ro-RO" b="0" i="0" u="none" strike="noStrike" noProof="0" dirty="0">
                    <a:solidFill>
                      <a:srgbClr val="000000"/>
                    </a:solidFill>
                    <a:latin typeface="Arial"/>
                  </a:rPr>
                  <a:t>Epoci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ro-RO" sz="1300" b="0" i="0" u="none" strike="noStrike" noProof="0" dirty="0">
                <a:solidFill>
                  <a:srgbClr val="0B2545"/>
                </a:solidFill>
                <a:latin typeface="Arial"/>
              </a:rPr>
              <a:t>Precizie și recall pe clase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Precizie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 DR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  <c:pt idx="4">
                  <c:v>Proliferative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0.57999999999999996</c:v>
                </c:pt>
                <c:pt idx="1">
                  <c:v>0.33</c:v>
                </c:pt>
                <c:pt idx="2">
                  <c:v>0.62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A7-4745-B83B-E2D174A94B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 DR</c:v>
                </c:pt>
                <c:pt idx="1">
                  <c:v>Mild</c:v>
                </c:pt>
                <c:pt idx="2">
                  <c:v>Moderate</c:v>
                </c:pt>
                <c:pt idx="3">
                  <c:v>Severe</c:v>
                </c:pt>
                <c:pt idx="4">
                  <c:v>Proliferative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0.64</c:v>
                </c:pt>
                <c:pt idx="1">
                  <c:v>0.45</c:v>
                </c:pt>
                <c:pt idx="2">
                  <c:v>0.37</c:v>
                </c:pt>
                <c:pt idx="3">
                  <c:v>0.93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A7-4745-B83B-E2D174A94B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953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1981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600" b="1" kern="0" spc="300" noProof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DE DIPLOMĂ</a:t>
            </a:r>
            <a:endParaRPr lang="ro-RO" sz="1600" noProof="0" dirty="0"/>
          </a:p>
        </p:txBody>
      </p:sp>
      <p:sp>
        <p:nvSpPr>
          <p:cNvPr id="6" name="Text 2"/>
          <p:cNvSpPr/>
          <p:nvPr/>
        </p:nvSpPr>
        <p:spPr>
          <a:xfrm>
            <a:off x="640080" y="21945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Folosirea metodelor de Machine Learning pentru clasificarea stadiilor retinopatiei diabetice</a:t>
            </a:r>
            <a:endParaRPr lang="ro-RO" sz="3400" noProof="0" dirty="0"/>
          </a:p>
        </p:txBody>
      </p:sp>
      <p:sp>
        <p:nvSpPr>
          <p:cNvPr id="8" name="Shape 4"/>
          <p:cNvSpPr/>
          <p:nvPr/>
        </p:nvSpPr>
        <p:spPr>
          <a:xfrm>
            <a:off x="658368" y="4892040"/>
            <a:ext cx="2926080" cy="0"/>
          </a:xfrm>
          <a:prstGeom prst="line">
            <a:avLst/>
          </a:prstGeom>
          <a:noFill/>
          <a:ln w="19050">
            <a:solidFill>
              <a:srgbClr val="0B7A75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9" name="Text 5"/>
          <p:cNvSpPr/>
          <p:nvPr/>
        </p:nvSpPr>
        <p:spPr>
          <a:xfrm>
            <a:off x="658368" y="5120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o-RO" sz="1400" b="1" noProof="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Absolvent: </a:t>
            </a:r>
            <a:r>
              <a:rPr lang="ro-RO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Bîrsan Lucian</a:t>
            </a:r>
            <a:endParaRPr lang="ro-RO" sz="1400" noProof="0" dirty="0"/>
          </a:p>
          <a:p>
            <a:pPr marL="0" indent="0">
              <a:buNone/>
            </a:pPr>
            <a:r>
              <a:rPr lang="ro-RO" sz="1400" b="1" noProof="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Coordonator științific: </a:t>
            </a:r>
            <a:r>
              <a:rPr lang="ro-RO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Asist.univ.drd.ing. Obreja Marius-Emanuel</a:t>
            </a:r>
            <a:endParaRPr lang="ro-RO" sz="1400" noProof="0" dirty="0"/>
          </a:p>
        </p:txBody>
      </p:sp>
      <p:sp>
        <p:nvSpPr>
          <p:cNvPr id="10" name="Text 6"/>
          <p:cNvSpPr/>
          <p:nvPr/>
        </p:nvSpPr>
        <p:spPr>
          <a:xfrm>
            <a:off x="658368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100" noProof="0" dirty="0">
                <a:solidFill>
                  <a:srgbClr val="6E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Universitatea Tehnică „Gheorghe Asachi” din Iași – Facultatea de Electronică, Telecomunicații și Tehnologia Informației</a:t>
            </a:r>
            <a:endParaRPr lang="ro-RO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contează diagnosticul precoce</a:t>
            </a:r>
            <a:endParaRPr lang="ro-R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5" name="Image 0" descr="icons/hospital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425 mil.</a:t>
            </a:r>
            <a:endParaRPr lang="ro-RO" sz="3000" noProof="0" dirty="0"/>
          </a:p>
        </p:txBody>
      </p:sp>
      <p:sp>
        <p:nvSpPr>
          <p:cNvPr id="7" name="Text 4"/>
          <p:cNvSpPr/>
          <p:nvPr/>
        </p:nvSpPr>
        <p:spPr>
          <a:xfrm>
            <a:off x="731520" y="3108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persoane cu diabet (2017)</a:t>
            </a:r>
            <a:endParaRPr lang="ro-RO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4206240" y="16459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9" name="Image 1" descr="icons/char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mil.</a:t>
            </a:r>
            <a:endParaRPr lang="ro-RO" sz="3000" noProof="0" dirty="0"/>
          </a:p>
        </p:txBody>
      </p:sp>
      <p:sp>
        <p:nvSpPr>
          <p:cNvPr id="11" name="Text 7"/>
          <p:cNvSpPr/>
          <p:nvPr/>
        </p:nvSpPr>
        <p:spPr>
          <a:xfrm>
            <a:off x="4434840" y="3108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cazuri estimate până în 2045</a:t>
            </a:r>
            <a:endParaRPr lang="ro-RO" sz="1300" noProof="0" dirty="0"/>
          </a:p>
        </p:txBody>
      </p:sp>
      <p:sp>
        <p:nvSpPr>
          <p:cNvPr id="12" name="Shape 8"/>
          <p:cNvSpPr/>
          <p:nvPr/>
        </p:nvSpPr>
        <p:spPr>
          <a:xfrm>
            <a:off x="7909560" y="164592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13" name="Image 2" descr="icons/warnin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8745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3816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din 2</a:t>
            </a:r>
            <a:endParaRPr lang="ro-RO" sz="3000" noProof="0" dirty="0"/>
          </a:p>
        </p:txBody>
      </p:sp>
      <p:sp>
        <p:nvSpPr>
          <p:cNvPr id="15" name="Text 10"/>
          <p:cNvSpPr/>
          <p:nvPr/>
        </p:nvSpPr>
        <p:spPr>
          <a:xfrm>
            <a:off x="8138160" y="31089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știe că are diabet</a:t>
            </a:r>
            <a:endParaRPr lang="ro-RO" sz="1300" noProof="0" dirty="0"/>
          </a:p>
        </p:txBody>
      </p:sp>
      <p:sp>
        <p:nvSpPr>
          <p:cNvPr id="16" name="Shape 11"/>
          <p:cNvSpPr/>
          <p:nvPr/>
        </p:nvSpPr>
        <p:spPr>
          <a:xfrm>
            <a:off x="502920" y="4251960"/>
            <a:ext cx="11183112" cy="1828800"/>
          </a:xfrm>
          <a:prstGeom prst="roundRect">
            <a:avLst>
              <a:gd name="adj" fmla="val 4000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7" name="Text 12"/>
          <p:cNvSpPr/>
          <p:nvPr/>
        </p:nvSpPr>
        <p:spPr>
          <a:xfrm>
            <a:off x="822960" y="448056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ro-RO" sz="1600" noProof="0" dirty="0">
                <a:latin typeface="Lato" pitchFamily="34" charset="0"/>
                <a:ea typeface="Lato" pitchFamily="34" charset="-122"/>
                <a:cs typeface="Lato" pitchFamily="34" charset="-120"/>
              </a:rPr>
              <a:t>- Retinopatia diabetică este o complicație oculară severă provocată de diabet, fiind una dintre principalele cauze de orbire la nivel mondial.
- Aproximativ 425 milioane de pacienți sufereau de diabet în 2017, cu estimări de creștere la peste 600 milioane în 2045.</a:t>
            </a:r>
            <a:endParaRPr lang="ro-RO" sz="1600" noProof="0" dirty="0"/>
          </a:p>
        </p:txBody>
      </p:sp>
      <p:sp>
        <p:nvSpPr>
          <p:cNvPr id="18" name="Text 13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Obiectivele proiectului</a:t>
            </a:r>
            <a:endParaRPr lang="ro-R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540867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E4F1F0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5" name="Image 0" descr="icons/targ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208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5623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6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 detecție</a:t>
            </a:r>
            <a:endParaRPr lang="ro-RO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1600200" y="2221992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1200" noProof="0" dirty="0">
                <a:latin typeface="Lato" pitchFamily="34" charset="0"/>
                <a:ea typeface="Lato" pitchFamily="34" charset="-122"/>
                <a:cs typeface="Lato" pitchFamily="34" charset="-120"/>
              </a:rPr>
              <a:t>Dezvoltarea unui algoritm bazat pe rețele neuronale convoluționale care clasifică corect imaginile de fund de ochi în stadiul potrivit.</a:t>
            </a:r>
            <a:endParaRPr lang="ro-RO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6277356" y="1600200"/>
            <a:ext cx="540867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9" name="Shape 6"/>
          <p:cNvSpPr/>
          <p:nvPr/>
        </p:nvSpPr>
        <p:spPr>
          <a:xfrm>
            <a:off x="6551676" y="1874520"/>
            <a:ext cx="640080" cy="640080"/>
          </a:xfrm>
          <a:prstGeom prst="ellipse">
            <a:avLst/>
          </a:prstGeom>
          <a:solidFill>
            <a:srgbClr val="E4F1F0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10" name="Image 1" descr="icons/lay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0208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74636" y="185623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6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Optimizare pipeline</a:t>
            </a:r>
            <a:endParaRPr lang="ro-RO" sz="1600" noProof="0" dirty="0"/>
          </a:p>
        </p:txBody>
      </p:sp>
      <p:sp>
        <p:nvSpPr>
          <p:cNvPr id="12" name="Text 8"/>
          <p:cNvSpPr/>
          <p:nvPr/>
        </p:nvSpPr>
        <p:spPr>
          <a:xfrm>
            <a:off x="7374636" y="2221992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1200" noProof="0" dirty="0">
                <a:latin typeface="Lato" pitchFamily="34" charset="0"/>
                <a:ea typeface="Lato" pitchFamily="34" charset="-122"/>
                <a:cs typeface="Lato" pitchFamily="34" charset="-120"/>
              </a:rPr>
              <a:t>Implementarea unei tehnici de preprocesare locală (mască de contrast) pentru scoaterea în evidență a leziunilor microvasculare fine.</a:t>
            </a:r>
            <a:endParaRPr lang="ro-RO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502920" y="3794760"/>
            <a:ext cx="540867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4" name="Shape 10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E4F1F0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15" name="Image 2" descr="icons/slid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2153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05079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6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Implementare hardware</a:t>
            </a:r>
            <a:endParaRPr lang="ro-RO" sz="1600" noProof="0" dirty="0"/>
          </a:p>
        </p:txBody>
      </p:sp>
      <p:sp>
        <p:nvSpPr>
          <p:cNvPr id="17" name="Text 12"/>
          <p:cNvSpPr/>
          <p:nvPr/>
        </p:nvSpPr>
        <p:spPr>
          <a:xfrm>
            <a:off x="1600200" y="4416552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1200" noProof="0" dirty="0">
                <a:latin typeface="Lato" pitchFamily="34" charset="0"/>
                <a:ea typeface="Lato" pitchFamily="34" charset="-122"/>
                <a:cs typeface="Lato" pitchFamily="34" charset="-120"/>
              </a:rPr>
              <a:t>Rularea locală a modelului EfficientNetB0 pe placa hardware NVIDIA Jetson Nano în interiorul unui container Docker.</a:t>
            </a:r>
            <a:endParaRPr lang="ro-RO" sz="1200" noProof="0" dirty="0"/>
          </a:p>
        </p:txBody>
      </p:sp>
      <p:sp>
        <p:nvSpPr>
          <p:cNvPr id="18" name="Shape 13"/>
          <p:cNvSpPr/>
          <p:nvPr/>
        </p:nvSpPr>
        <p:spPr>
          <a:xfrm>
            <a:off x="6277356" y="3794760"/>
            <a:ext cx="540867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9" name="Shape 14"/>
          <p:cNvSpPr/>
          <p:nvPr/>
        </p:nvSpPr>
        <p:spPr>
          <a:xfrm>
            <a:off x="6551676" y="4069080"/>
            <a:ext cx="640080" cy="640080"/>
          </a:xfrm>
          <a:prstGeom prst="ellipse">
            <a:avLst/>
          </a:prstGeom>
          <a:solidFill>
            <a:srgbClr val="E4F1F0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20" name="Image 3" descr="icons/video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21538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74636" y="4050792"/>
            <a:ext cx="4037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6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Aplicație video în timp real</a:t>
            </a:r>
            <a:endParaRPr lang="ro-RO" sz="1600" noProof="0" dirty="0"/>
          </a:p>
        </p:txBody>
      </p:sp>
      <p:sp>
        <p:nvSpPr>
          <p:cNvPr id="22" name="Text 16"/>
          <p:cNvSpPr/>
          <p:nvPr/>
        </p:nvSpPr>
        <p:spPr>
          <a:xfrm>
            <a:off x="7374636" y="4416552"/>
            <a:ext cx="40370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o-RO" sz="1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Procesare live cu OpenCV și interfață grafică cu diagnostic și timp de răspuns.</a:t>
            </a:r>
            <a:endParaRPr lang="ro-RO" sz="1200" noProof="0" dirty="0"/>
          </a:p>
        </p:txBody>
      </p:sp>
      <p:sp>
        <p:nvSpPr>
          <p:cNvPr id="23" name="Text 17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-20597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Stadiile retinopatiei diabetice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539496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5 clase folosite în clasificare</a:t>
            </a:r>
            <a:endParaRPr lang="ro-R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014984"/>
            <a:ext cx="2053742" cy="5495544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5" name="Shape 3"/>
          <p:cNvSpPr/>
          <p:nvPr/>
        </p:nvSpPr>
        <p:spPr>
          <a:xfrm>
            <a:off x="1118311" y="1076683"/>
            <a:ext cx="822960" cy="822960"/>
          </a:xfrm>
          <a:prstGeom prst="ellipse">
            <a:avLst/>
          </a:prstGeom>
          <a:solidFill>
            <a:srgbClr val="3AA6A0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6" name="Text 4"/>
          <p:cNvSpPr/>
          <p:nvPr/>
        </p:nvSpPr>
        <p:spPr>
          <a:xfrm>
            <a:off x="1118311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ro-RO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5833872"/>
            <a:ext cx="1870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5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</a:t>
            </a:r>
            <a:endParaRPr lang="ro-RO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6228272"/>
            <a:ext cx="1505102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o-RO" sz="10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leziuni</a:t>
            </a:r>
            <a:endParaRPr lang="ro-RO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2785262" y="1014984"/>
            <a:ext cx="2053742" cy="5495544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1" name="Shape 9"/>
          <p:cNvSpPr/>
          <p:nvPr/>
        </p:nvSpPr>
        <p:spPr>
          <a:xfrm>
            <a:off x="3400654" y="1060704"/>
            <a:ext cx="822960" cy="822960"/>
          </a:xfrm>
          <a:prstGeom prst="ellipse">
            <a:avLst/>
          </a:prstGeom>
          <a:solidFill>
            <a:srgbClr val="7BC142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12" name="Text 10"/>
          <p:cNvSpPr/>
          <p:nvPr/>
        </p:nvSpPr>
        <p:spPr>
          <a:xfrm>
            <a:off x="3400654" y="10607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o-RO" sz="2600" noProof="0" dirty="0"/>
          </a:p>
        </p:txBody>
      </p:sp>
      <p:sp>
        <p:nvSpPr>
          <p:cNvPr id="13" name="Text 11"/>
          <p:cNvSpPr/>
          <p:nvPr/>
        </p:nvSpPr>
        <p:spPr>
          <a:xfrm>
            <a:off x="2808122" y="5833872"/>
            <a:ext cx="1870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5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ro-RO" sz="1500" noProof="0" dirty="0"/>
          </a:p>
        </p:txBody>
      </p:sp>
      <p:sp>
        <p:nvSpPr>
          <p:cNvPr id="14" name="Shape 12"/>
          <p:cNvSpPr/>
          <p:nvPr/>
        </p:nvSpPr>
        <p:spPr>
          <a:xfrm>
            <a:off x="2991002" y="6228272"/>
            <a:ext cx="1505102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15" name="Text 13"/>
          <p:cNvSpPr/>
          <p:nvPr/>
        </p:nvSpPr>
        <p:spPr>
          <a:xfrm>
            <a:off x="2968142" y="5958955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o-RO" sz="10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Microanevrisme izolate</a:t>
            </a:r>
            <a:endParaRPr lang="ro-RO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5067605" y="1014984"/>
            <a:ext cx="2053742" cy="5495544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7" name="Shape 15"/>
          <p:cNvSpPr/>
          <p:nvPr/>
        </p:nvSpPr>
        <p:spPr>
          <a:xfrm>
            <a:off x="5682996" y="1060704"/>
            <a:ext cx="822960" cy="8229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18" name="Text 16"/>
          <p:cNvSpPr/>
          <p:nvPr/>
        </p:nvSpPr>
        <p:spPr>
          <a:xfrm>
            <a:off x="5682996" y="10305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o-RO" sz="2600" noProof="0" dirty="0"/>
          </a:p>
        </p:txBody>
      </p:sp>
      <p:sp>
        <p:nvSpPr>
          <p:cNvPr id="19" name="Text 17"/>
          <p:cNvSpPr/>
          <p:nvPr/>
        </p:nvSpPr>
        <p:spPr>
          <a:xfrm>
            <a:off x="5159045" y="5833872"/>
            <a:ext cx="1870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5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ro-RO" sz="1500" noProof="0" dirty="0"/>
          </a:p>
        </p:txBody>
      </p:sp>
      <p:sp>
        <p:nvSpPr>
          <p:cNvPr id="20" name="Shape 18"/>
          <p:cNvSpPr/>
          <p:nvPr/>
        </p:nvSpPr>
        <p:spPr>
          <a:xfrm>
            <a:off x="5360817" y="6228272"/>
            <a:ext cx="1505102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21" name="Text 19"/>
          <p:cNvSpPr/>
          <p:nvPr/>
        </p:nvSpPr>
        <p:spPr>
          <a:xfrm>
            <a:off x="5204765" y="5958955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o-RO" sz="10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Hemoragii și exsudate</a:t>
            </a:r>
            <a:endParaRPr lang="ro-RO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7349947" y="1014984"/>
            <a:ext cx="2053742" cy="5495544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3" name="Shape 21"/>
          <p:cNvSpPr/>
          <p:nvPr/>
        </p:nvSpPr>
        <p:spPr>
          <a:xfrm>
            <a:off x="7965338" y="1060704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24" name="Text 22"/>
          <p:cNvSpPr/>
          <p:nvPr/>
        </p:nvSpPr>
        <p:spPr>
          <a:xfrm>
            <a:off x="7965338" y="10607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o-RO" sz="2600" noProof="0" dirty="0"/>
          </a:p>
        </p:txBody>
      </p:sp>
      <p:sp>
        <p:nvSpPr>
          <p:cNvPr id="25" name="Text 23"/>
          <p:cNvSpPr/>
          <p:nvPr/>
        </p:nvSpPr>
        <p:spPr>
          <a:xfrm>
            <a:off x="7441387" y="5833872"/>
            <a:ext cx="1870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5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ro-RO" sz="1500" noProof="0" dirty="0"/>
          </a:p>
        </p:txBody>
      </p:sp>
      <p:sp>
        <p:nvSpPr>
          <p:cNvPr id="26" name="Shape 24"/>
          <p:cNvSpPr/>
          <p:nvPr/>
        </p:nvSpPr>
        <p:spPr>
          <a:xfrm>
            <a:off x="7590330" y="6228272"/>
            <a:ext cx="1505102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27" name="Text 25"/>
          <p:cNvSpPr/>
          <p:nvPr/>
        </p:nvSpPr>
        <p:spPr>
          <a:xfrm>
            <a:off x="7487107" y="5959127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o-RO" sz="10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Leziuni în 4 cadrane</a:t>
            </a:r>
            <a:endParaRPr lang="ro-RO" sz="1050" noProof="0" dirty="0"/>
          </a:p>
        </p:txBody>
      </p:sp>
      <p:sp>
        <p:nvSpPr>
          <p:cNvPr id="28" name="Shape 26"/>
          <p:cNvSpPr/>
          <p:nvPr/>
        </p:nvSpPr>
        <p:spPr>
          <a:xfrm>
            <a:off x="9632290" y="1014984"/>
            <a:ext cx="2053742" cy="5495544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9" name="Shape 27"/>
          <p:cNvSpPr/>
          <p:nvPr/>
        </p:nvSpPr>
        <p:spPr>
          <a:xfrm>
            <a:off x="10247681" y="1060704"/>
            <a:ext cx="822960" cy="822960"/>
          </a:xfrm>
          <a:prstGeom prst="ellipse">
            <a:avLst/>
          </a:prstGeom>
          <a:solidFill>
            <a:srgbClr val="A62639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30" name="Text 28"/>
          <p:cNvSpPr/>
          <p:nvPr/>
        </p:nvSpPr>
        <p:spPr>
          <a:xfrm>
            <a:off x="10229928" y="10607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ro-RO" sz="2600" noProof="0" dirty="0"/>
          </a:p>
        </p:txBody>
      </p:sp>
      <p:sp>
        <p:nvSpPr>
          <p:cNvPr id="31" name="Text 29"/>
          <p:cNvSpPr/>
          <p:nvPr/>
        </p:nvSpPr>
        <p:spPr>
          <a:xfrm>
            <a:off x="9769449" y="5833872"/>
            <a:ext cx="18708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5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</a:t>
            </a:r>
            <a:endParaRPr lang="ro-RO" sz="1500" noProof="0" dirty="0"/>
          </a:p>
        </p:txBody>
      </p:sp>
      <p:sp>
        <p:nvSpPr>
          <p:cNvPr id="32" name="Shape 30"/>
          <p:cNvSpPr/>
          <p:nvPr/>
        </p:nvSpPr>
        <p:spPr>
          <a:xfrm>
            <a:off x="9906610" y="6228272"/>
            <a:ext cx="1505102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33" name="Text 31"/>
          <p:cNvSpPr/>
          <p:nvPr/>
        </p:nvSpPr>
        <p:spPr>
          <a:xfrm>
            <a:off x="9815170" y="5976380"/>
            <a:ext cx="17794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o-RO" sz="10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Neovascularizație</a:t>
            </a:r>
            <a:endParaRPr lang="ro-RO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ro-RO" sz="1000" noProof="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2640F57-90E9-3834-F2C2-4A07EA245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7" y="2617493"/>
            <a:ext cx="2053742" cy="2391109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5490A530-B82F-8065-1379-1E397178E3FA}"/>
              </a:ext>
            </a:extLst>
          </p:cNvPr>
          <p:cNvSpPr/>
          <p:nvPr/>
        </p:nvSpPr>
        <p:spPr>
          <a:xfrm>
            <a:off x="1118311" y="106070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0</a:t>
            </a:r>
            <a:endParaRPr lang="ro-RO" sz="2600" noProof="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283CCF6-CB85-2F2A-8FDF-66A83C112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122" y="2617492"/>
            <a:ext cx="2000529" cy="239110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94F8F25-2CEE-BEA0-8544-CCB0AE8DC4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843" y="2617493"/>
            <a:ext cx="1905266" cy="2391109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15B8141-CEAA-A6BF-6F37-615A13FE50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3083" y="2617493"/>
            <a:ext cx="1743318" cy="239110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F9AE931-725F-08DC-18CE-D46E368158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7984" y="2617492"/>
            <a:ext cx="1733792" cy="23911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Setul de date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Echilibrarea claselor prin under- / oversampling</a:t>
            </a:r>
            <a:endParaRPr lang="ro-RO" sz="1400" noProof="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9164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691640"/>
            <a:ext cx="4507992" cy="4206240"/>
          </a:xfrm>
          <a:prstGeom prst="roundRect">
            <a:avLst>
              <a:gd name="adj" fmla="val 1739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6" name="Text 3"/>
          <p:cNvSpPr/>
          <p:nvPr/>
        </p:nvSpPr>
        <p:spPr>
          <a:xfrm>
            <a:off x="7406640" y="1965960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16.178 imagini totale, redimensionate la 320×320 px</a:t>
            </a:r>
            <a:endParaRPr lang="ro-RO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7406640" y="2761488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antrenare (13.751) – 15% validare (2.427)</a:t>
            </a:r>
            <a:endParaRPr lang="ro-RO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7406640" y="3557016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Clasele 0 și 2: plafonate la 4.500 imagini</a:t>
            </a:r>
            <a:endParaRPr lang="ro-RO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7406640" y="4352544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Clasele 3 și 4: augmentate prin multiplicare ×3</a:t>
            </a:r>
            <a:endParaRPr lang="ro-RO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7406640" y="5148072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Provocare: distribuție inițială puternic dezechilibrată (peste 70% clasa 0)</a:t>
            </a:r>
            <a:endParaRPr lang="ro-RO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-18288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Transfer Learning?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352044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Reutilizarea unei rețele preantrenate pe ImageNet</a:t>
            </a:r>
            <a:endParaRPr lang="ro-R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717804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5" name="Shape 3"/>
          <p:cNvSpPr/>
          <p:nvPr/>
        </p:nvSpPr>
        <p:spPr>
          <a:xfrm>
            <a:off x="1879092" y="946404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6" name="Image 0" descr="icons/bra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96" y="109270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1508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Rețea preantrenată</a:t>
            </a:r>
            <a:endParaRPr lang="ro-RO" sz="1450" noProof="0" dirty="0"/>
          </a:p>
        </p:txBody>
      </p:sp>
      <p:sp>
        <p:nvSpPr>
          <p:cNvPr id="8" name="Text 5"/>
          <p:cNvSpPr/>
          <p:nvPr/>
        </p:nvSpPr>
        <p:spPr>
          <a:xfrm>
            <a:off x="731520" y="227228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o-RO" sz="11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EfficientNetB0, antrenată inițial pe 14 milioane de imagini (ImageNet).</a:t>
            </a:r>
            <a:endParaRPr lang="ro-RO" sz="1150" noProof="0" dirty="0"/>
          </a:p>
        </p:txBody>
      </p:sp>
      <p:sp>
        <p:nvSpPr>
          <p:cNvPr id="9" name="Text 6"/>
          <p:cNvSpPr/>
          <p:nvPr/>
        </p:nvSpPr>
        <p:spPr>
          <a:xfrm>
            <a:off x="3986784" y="16779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200" noProof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ro-RO" sz="2200" noProof="0" dirty="0"/>
          </a:p>
        </p:txBody>
      </p:sp>
      <p:sp>
        <p:nvSpPr>
          <p:cNvPr id="10" name="Shape 7"/>
          <p:cNvSpPr/>
          <p:nvPr/>
        </p:nvSpPr>
        <p:spPr>
          <a:xfrm>
            <a:off x="4352544" y="717804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1" name="Shape 8"/>
          <p:cNvSpPr/>
          <p:nvPr/>
        </p:nvSpPr>
        <p:spPr>
          <a:xfrm>
            <a:off x="5728716" y="946404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12" name="Image 1" descr="icon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020" y="1092708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181508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Înghețare parțială</a:t>
            </a:r>
            <a:endParaRPr lang="ro-RO" sz="1450" noProof="0" dirty="0"/>
          </a:p>
        </p:txBody>
      </p:sp>
      <p:sp>
        <p:nvSpPr>
          <p:cNvPr id="14" name="Text 10"/>
          <p:cNvSpPr/>
          <p:nvPr/>
        </p:nvSpPr>
        <p:spPr>
          <a:xfrm>
            <a:off x="4581144" y="227228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o-RO" sz="11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Primele 40 de straturi rămân fixe – păstrează detecția de margini și texturi.</a:t>
            </a:r>
            <a:endParaRPr lang="ro-RO" sz="1150" noProof="0" dirty="0"/>
          </a:p>
        </p:txBody>
      </p:sp>
      <p:sp>
        <p:nvSpPr>
          <p:cNvPr id="15" name="Text 11"/>
          <p:cNvSpPr/>
          <p:nvPr/>
        </p:nvSpPr>
        <p:spPr>
          <a:xfrm>
            <a:off x="7836408" y="167792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2200" noProof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ro-RO" sz="2200" noProof="0" dirty="0"/>
          </a:p>
        </p:txBody>
      </p:sp>
      <p:sp>
        <p:nvSpPr>
          <p:cNvPr id="16" name="Shape 12"/>
          <p:cNvSpPr/>
          <p:nvPr/>
        </p:nvSpPr>
        <p:spPr>
          <a:xfrm>
            <a:off x="8202168" y="717804"/>
            <a:ext cx="3483864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7" name="Shape 13"/>
          <p:cNvSpPr/>
          <p:nvPr/>
        </p:nvSpPr>
        <p:spPr>
          <a:xfrm>
            <a:off x="9578340" y="946404"/>
            <a:ext cx="731520" cy="73152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18" name="Image 2" descr="icons/slid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644" y="1092708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30768" y="1815084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specific</a:t>
            </a:r>
            <a:endParaRPr lang="ro-RO" sz="1450" noProof="0" dirty="0"/>
          </a:p>
        </p:txBody>
      </p:sp>
      <p:sp>
        <p:nvSpPr>
          <p:cNvPr id="20" name="Text 15"/>
          <p:cNvSpPr/>
          <p:nvPr/>
        </p:nvSpPr>
        <p:spPr>
          <a:xfrm>
            <a:off x="8430768" y="2272284"/>
            <a:ext cx="3026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o-RO" sz="115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Straturile superioare învață tipare clinice: microanevrisme, exsudate, hemoragii.</a:t>
            </a:r>
            <a:endParaRPr lang="ro-RO" sz="1150" noProof="0" dirty="0"/>
          </a:p>
        </p:txBody>
      </p:sp>
      <p:sp>
        <p:nvSpPr>
          <p:cNvPr id="21" name="Shape 16"/>
          <p:cNvSpPr/>
          <p:nvPr/>
        </p:nvSpPr>
        <p:spPr>
          <a:xfrm>
            <a:off x="5728716" y="3380368"/>
            <a:ext cx="5957316" cy="3020432"/>
          </a:xfrm>
          <a:prstGeom prst="roundRect">
            <a:avLst>
              <a:gd name="adj" fmla="val 4211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2" name="Text 17"/>
          <p:cNvSpPr/>
          <p:nvPr/>
        </p:nvSpPr>
        <p:spPr>
          <a:xfrm>
            <a:off x="5875020" y="3552444"/>
            <a:ext cx="5673852" cy="2756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4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Avantaj: </a:t>
            </a:r>
            <a:r>
              <a:rPr lang="ro-RO" sz="14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elimină necesitatea unui set de milioane de imagini medicale și reduce drastic timpul și costul de antrenare, fiind esențial pentru rularea ulterioară pe dispozitivul embedded.</a:t>
            </a:r>
            <a:endParaRPr lang="ro-RO" sz="1400" noProof="0" dirty="0"/>
          </a:p>
        </p:txBody>
      </p:sp>
      <p:sp>
        <p:nvSpPr>
          <p:cNvPr id="23" name="Text 18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ro-RO" sz="1000" noProof="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35C9F93-3CE5-60D9-0457-63A2B78BB8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10" y="3380368"/>
            <a:ext cx="4421577" cy="3020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Preprocesarea imaginilor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normalizare simplă la accentuarea detaliilor</a:t>
            </a:r>
            <a:endParaRPr lang="ro-R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1206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500" b="1" noProof="0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abordării inițiale</a:t>
            </a:r>
            <a:endParaRPr lang="ro-RO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  <a:buSzPct val="100000"/>
            </a:pP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 de iluminare globale ascundeau leziunile fine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Microanevrismele se pierdeau în textura de fundal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b="1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acuratețe plafonată la 52%</a:t>
            </a:r>
            <a:endParaRPr lang="ro-RO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4480560" cy="0"/>
          </a:xfrm>
          <a:prstGeom prst="line">
            <a:avLst/>
          </a:prstGeom>
          <a:noFill/>
          <a:ln w="12700">
            <a:solidFill>
              <a:srgbClr val="DCE7E6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500" b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 adoptată</a:t>
            </a:r>
            <a:endParaRPr lang="ro-RO" sz="15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de accentuare a detaliilor de înaltă frecvență </a:t>
            </a:r>
            <a:r>
              <a:rPr lang="en-US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scade o mască Gaussian blur din imaginea originală, amplificând contururile leziunilor.</a:t>
            </a:r>
            <a:endParaRPr lang="ro-RO" sz="1250" noProof="0" dirty="0"/>
          </a:p>
        </p:txBody>
      </p:sp>
      <p:sp>
        <p:nvSpPr>
          <p:cNvPr id="10" name="Shape 8"/>
          <p:cNvSpPr/>
          <p:nvPr/>
        </p:nvSpPr>
        <p:spPr>
          <a:xfrm>
            <a:off x="5852160" y="1691640"/>
            <a:ext cx="5833872" cy="4297680"/>
          </a:xfrm>
          <a:prstGeom prst="roundRect">
            <a:avLst>
              <a:gd name="adj" fmla="val 1702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1" name="Text 9"/>
          <p:cNvSpPr/>
          <p:nvPr/>
        </p:nvSpPr>
        <p:spPr>
          <a:xfrm>
            <a:off x="61264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noProof="0" dirty="0">
                <a:solidFill>
                  <a:srgbClr val="9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de accentuare</a:t>
            </a:r>
            <a:endParaRPr lang="ro-RO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612648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0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I_acc = (I_original – I_blur) · α + 128</a:t>
            </a:r>
            <a:endParaRPr lang="ro-RO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ro-RO" sz="1250" noProof="0" dirty="0"/>
          </a:p>
        </p:txBody>
      </p:sp>
      <p:sp>
        <p:nvSpPr>
          <p:cNvPr id="14" name="Shape 12"/>
          <p:cNvSpPr/>
          <p:nvPr/>
        </p:nvSpPr>
        <p:spPr>
          <a:xfrm>
            <a:off x="6126480" y="3566160"/>
            <a:ext cx="5029200" cy="0"/>
          </a:xfrm>
          <a:prstGeom prst="line">
            <a:avLst/>
          </a:prstGeom>
          <a:noFill/>
          <a:ln w="12700">
            <a:solidFill>
              <a:srgbClr val="23405C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0" y="37947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300" b="1" noProof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 direct: </a:t>
            </a:r>
            <a:r>
              <a:rPr lang="ro-RO" sz="1300" noProof="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microanevrismele, hemoragiile punctiforme și exsudatele dure devin mult mai vizibile pentru extractorul convoluțional, contribuind  la creșterea acurateței finale.</a:t>
            </a:r>
            <a:endParaRPr lang="ro-RO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Provocare: Vanishing Gradient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Blocarea rețelei la acuratețe de </a:t>
            </a:r>
            <a:r>
              <a:rPr lang="en-US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ro-RO" sz="1400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3330863"/>
              </p:ext>
            </p:extLst>
          </p:nvPr>
        </p:nvGraphicFramePr>
        <p:xfrm>
          <a:off x="502920" y="169164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691640"/>
            <a:ext cx="4507992" cy="4206240"/>
          </a:xfrm>
          <a:prstGeom prst="roundRect">
            <a:avLst>
              <a:gd name="adj" fmla="val 1739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6" name="Text 3"/>
          <p:cNvSpPr/>
          <p:nvPr/>
        </p:nvSpPr>
        <p:spPr>
          <a:xfrm>
            <a:off x="740664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5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Cauza tehnică</a:t>
            </a:r>
            <a:endParaRPr lang="ro-RO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7406640" y="2377440"/>
            <a:ext cx="405079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Funcția de activare Swish se saturează în zonele extreme</a:t>
            </a:r>
            <a:endParaRPr lang="ro-RO" sz="125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Neuronii din straturile profunde </a:t>
            </a:r>
            <a:r>
              <a:rPr lang="en-US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</a:t>
            </a:r>
            <a:r>
              <a:rPr lang="en-US" sz="1250" noProof="0" dirty="0" err="1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r>
              <a:rPr lang="en-US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sunt </a:t>
            </a:r>
            <a:r>
              <a:rPr lang="en-US" sz="1250" noProof="0" dirty="0" err="1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</a:t>
            </a:r>
            <a:r>
              <a:rPr lang="en-US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și încetează să mai învețe</a:t>
            </a:r>
            <a:endParaRPr lang="ro-RO" sz="125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Rată de învățare prea mare → saturație instantanee</a:t>
            </a:r>
            <a:endParaRPr lang="ro-RO" sz="125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250" b="1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Soluție: </a:t>
            </a:r>
            <a:r>
              <a:rPr lang="en-US" sz="1250" b="1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ales un </a:t>
            </a:r>
            <a:r>
              <a:rPr lang="ro-RO" sz="1250" b="1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extrem de fin, 5×10⁻⁵</a:t>
            </a:r>
            <a:endParaRPr lang="ro-RO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Optimizări aplicate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52% la 67% acuratețe</a:t>
            </a:r>
            <a:endParaRPr lang="ro-RO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200" b="1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Parametru</a:t>
            </a:r>
            <a:endParaRPr lang="ro-RO" sz="1200" noProof="0" dirty="0"/>
          </a:p>
        </p:txBody>
      </p:sp>
      <p:sp>
        <p:nvSpPr>
          <p:cNvPr id="5" name="Text 3"/>
          <p:cNvSpPr/>
          <p:nvPr/>
        </p:nvSpPr>
        <p:spPr>
          <a:xfrm>
            <a:off x="34290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200" b="1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Înainte</a:t>
            </a:r>
            <a:endParaRPr lang="ro-RO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200" b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optimizare</a:t>
            </a:r>
            <a:endParaRPr lang="ro-RO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Preprocesare</a:t>
            </a:r>
            <a:endParaRPr lang="ro-RO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Normalizare simplă</a:t>
            </a:r>
            <a:endParaRPr lang="ro-RO" sz="1300" noProof="0" dirty="0"/>
          </a:p>
        </p:txBody>
      </p:sp>
      <p:sp>
        <p:nvSpPr>
          <p:cNvPr id="10" name="Text 8"/>
          <p:cNvSpPr/>
          <p:nvPr/>
        </p:nvSpPr>
        <p:spPr>
          <a:xfrm>
            <a:off x="7315200" y="2148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Accentuare de detalii</a:t>
            </a:r>
            <a:endParaRPr lang="ro-RO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2" name="Text 10"/>
          <p:cNvSpPr/>
          <p:nvPr/>
        </p:nvSpPr>
        <p:spPr>
          <a:xfrm>
            <a:off x="731520" y="303580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ro-RO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3429000" y="3035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ro-RO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7315200" y="30358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16</a:t>
            </a:r>
            <a:endParaRPr lang="ro-RO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502920" y="3922776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39227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ro-RO" sz="1400" noProof="0" dirty="0"/>
          </a:p>
        </p:txBody>
      </p:sp>
      <p:sp>
        <p:nvSpPr>
          <p:cNvPr id="17" name="Text 15"/>
          <p:cNvSpPr/>
          <p:nvPr/>
        </p:nvSpPr>
        <p:spPr>
          <a:xfrm>
            <a:off x="3429000" y="392277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ro-RO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7315200" y="392277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0.6</a:t>
            </a:r>
            <a:endParaRPr lang="ro-RO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502920" y="4809744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0" name="Text 18"/>
          <p:cNvSpPr/>
          <p:nvPr/>
        </p:nvSpPr>
        <p:spPr>
          <a:xfrm>
            <a:off x="731520" y="480974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ro-RO" sz="1400" noProof="0" dirty="0"/>
          </a:p>
        </p:txBody>
      </p:sp>
      <p:sp>
        <p:nvSpPr>
          <p:cNvPr id="21" name="Text 19"/>
          <p:cNvSpPr/>
          <p:nvPr/>
        </p:nvSpPr>
        <p:spPr>
          <a:xfrm>
            <a:off x="3429000" y="480974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noProof="0" dirty="0">
                <a:solidFill>
                  <a:srgbClr val="A6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3×10⁻³</a:t>
            </a:r>
            <a:endParaRPr lang="ro-RO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7315200" y="480974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5×10⁻⁵</a:t>
            </a:r>
            <a:endParaRPr lang="ro-RO" sz="1300" noProof="0" dirty="0"/>
          </a:p>
        </p:txBody>
      </p:sp>
      <p:sp>
        <p:nvSpPr>
          <p:cNvPr id="23" name="Shape 21"/>
          <p:cNvSpPr/>
          <p:nvPr/>
        </p:nvSpPr>
        <p:spPr>
          <a:xfrm>
            <a:off x="502920" y="5833872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4" name="Text 22"/>
          <p:cNvSpPr/>
          <p:nvPr/>
        </p:nvSpPr>
        <p:spPr>
          <a:xfrm>
            <a:off x="502920" y="5833872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acuratețe de antrenare 52% → 6</a:t>
            </a:r>
            <a:r>
              <a:rPr lang="en-US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ro-RO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 •  acuratețe de validare 48% → 62–6</a:t>
            </a:r>
            <a:r>
              <a:rPr lang="en-US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ro-RO" sz="1500" noProof="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A2E986-583A-24A4-BB93-76F50F106D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959"/>
            <a:ext cx="5943600" cy="32092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03A07F-EF55-4924-6E53-478B77380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881" y="2454761"/>
            <a:ext cx="5943600" cy="294968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0ED3307-ECC2-B22E-6F45-3F923052E84A}"/>
              </a:ext>
            </a:extLst>
          </p:cNvPr>
          <p:cNvSpPr/>
          <p:nvPr/>
        </p:nvSpPr>
        <p:spPr>
          <a:xfrm>
            <a:off x="352044" y="236363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Rezultatele obținute după optimizare</a:t>
            </a:r>
            <a:endParaRPr lang="ro-RO" sz="3000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912A19B-7899-C76E-EE87-BB20D6821201}"/>
              </a:ext>
            </a:extLst>
          </p:cNvPr>
          <p:cNvSpPr/>
          <p:nvPr/>
        </p:nvSpPr>
        <p:spPr>
          <a:xfrm>
            <a:off x="0" y="841675"/>
            <a:ext cx="12140481" cy="1483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  <a:buSzPct val="100000"/>
            </a:pPr>
            <a:r>
              <a:rPr lang="ro-RO" sz="125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După cum se poate vedea in cele doua grafice, am folosit folosit o preprocesare a imaginii diferită,  scăderea numărului de neuroni folosiți si folosind un learning rate mai mic astfel incat sa parcurga imaginea cat mai fin pentru a invăta cat mai bine.</a:t>
            </a:r>
            <a:endParaRPr lang="ro-RO" sz="1250" noProof="0" dirty="0"/>
          </a:p>
        </p:txBody>
      </p:sp>
    </p:spTree>
    <p:extLst>
      <p:ext uri="{BB962C8B-B14F-4D97-AF65-F5344CB8AC3E}">
        <p14:creationId xmlns:p14="http://schemas.microsoft.com/office/powerpoint/2010/main" val="819331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Rezultate finale</a:t>
            </a:r>
            <a:endParaRPr lang="ro-R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3291840" cy="4206240"/>
          </a:xfrm>
          <a:prstGeom prst="roundRect">
            <a:avLst>
              <a:gd name="adj" fmla="val 2222"/>
            </a:avLst>
          </a:prstGeom>
          <a:solidFill>
            <a:srgbClr val="0B7A75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4" name="Image 0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9202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514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o-RO" sz="5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ro-RO" sz="5600" noProof="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ro-RO" sz="1250" noProof="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globală pe setul de validare (5 clase)</a:t>
            </a:r>
            <a:endParaRPr lang="ro-RO" sz="1250" noProof="0" dirty="0"/>
          </a:p>
        </p:txBody>
      </p:sp>
      <p:sp>
        <p:nvSpPr>
          <p:cNvPr id="7" name="Shape 4"/>
          <p:cNvSpPr/>
          <p:nvPr/>
        </p:nvSpPr>
        <p:spPr>
          <a:xfrm>
            <a:off x="822960" y="4526280"/>
            <a:ext cx="2651760" cy="0"/>
          </a:xfrm>
          <a:prstGeom prst="line">
            <a:avLst/>
          </a:prstGeom>
          <a:noFill/>
          <a:ln w="12700">
            <a:solidFill>
              <a:srgbClr val="3F9994"/>
            </a:solidFill>
            <a:prstDash val="solid"/>
          </a:ln>
        </p:spPr>
        <p:txBody>
          <a:bodyPr/>
          <a:lstStyle/>
          <a:p>
            <a:endParaRPr lang="ro-RO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47091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o-R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(3): </a:t>
            </a:r>
            <a:endParaRPr lang="ro-RO" sz="12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ro-RO" sz="1200" noProof="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precizie 0.88 • recall 0.93</a:t>
            </a:r>
            <a:endParaRPr lang="ro-RO" sz="12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ro-RO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 (4): </a:t>
            </a:r>
            <a:endParaRPr lang="ro-RO" sz="1200" noProof="0" dirty="0"/>
          </a:p>
          <a:p>
            <a:pPr marL="0" indent="0">
              <a:lnSpc>
                <a:spcPct val="115000"/>
              </a:lnSpc>
              <a:buNone/>
            </a:pPr>
            <a:r>
              <a:rPr lang="ro-RO" sz="1200" noProof="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precizie 0.88 • recall 0.99</a:t>
            </a:r>
            <a:endParaRPr lang="ro-RO" sz="1200" noProof="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484170761"/>
              </p:ext>
            </p:extLst>
          </p:nvPr>
        </p:nvGraphicFramePr>
        <p:xfrm>
          <a:off x="4114800" y="1691640"/>
          <a:ext cx="757123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-82296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Implementare practică</a:t>
            </a:r>
            <a:endParaRPr lang="ro-R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31148" y="649224"/>
            <a:ext cx="5394960" cy="23774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5" name="Image 0" descr="icons/chip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8" y="877824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45548" y="92354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6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Antrenare – Kaggle</a:t>
            </a:r>
            <a:endParaRPr lang="ro-RO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751188" y="1472184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NVIDIA Tesla P100 (16 GB HBM2)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Keras, Python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Rezoluție de antrenare: 320×320 px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epoci, batch size 16, Adam optimizer</a:t>
            </a:r>
            <a:endParaRPr lang="ro-RO" sz="1300" noProof="0" dirty="0"/>
          </a:p>
        </p:txBody>
      </p:sp>
      <p:sp>
        <p:nvSpPr>
          <p:cNvPr id="10" name="Shape 7"/>
          <p:cNvSpPr/>
          <p:nvPr/>
        </p:nvSpPr>
        <p:spPr>
          <a:xfrm>
            <a:off x="6191868" y="649225"/>
            <a:ext cx="5422392" cy="2377439"/>
          </a:xfrm>
          <a:prstGeom prst="roundRect">
            <a:avLst>
              <a:gd name="adj" fmla="val 1739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11" name="Image 1" descr="icons/dock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8" y="877824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1988" y="923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Infererență – NVIDIA Jetson Nano</a:t>
            </a:r>
            <a:endParaRPr lang="ro-RO" sz="1600" noProof="0" dirty="0"/>
          </a:p>
        </p:txBody>
      </p:sp>
      <p:sp>
        <p:nvSpPr>
          <p:cNvPr id="13" name="Text 9"/>
          <p:cNvSpPr/>
          <p:nvPr/>
        </p:nvSpPr>
        <p:spPr>
          <a:xfrm>
            <a:off x="6511908" y="99134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ARM Cortex-A57 + GPU Maxwell, 128 nuclee CUDA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Docker (imagine NVIDIA L4T)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pentru flux video live de la camera USB</a:t>
            </a:r>
            <a:endParaRPr lang="ro-RO" sz="1300" noProof="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ro-RO" sz="1300" noProof="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Alimentare USB-C, 5V/3A, mod de performanță MAXN</a:t>
            </a:r>
            <a:endParaRPr lang="ro-RO" sz="1300" noProof="0" dirty="0"/>
          </a:p>
        </p:txBody>
      </p:sp>
      <p:sp>
        <p:nvSpPr>
          <p:cNvPr id="15" name="Text 11"/>
          <p:cNvSpPr/>
          <p:nvPr/>
        </p:nvSpPr>
        <p:spPr>
          <a:xfrm>
            <a:off x="6470070" y="198692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250" b="1" noProof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Docker: </a:t>
            </a:r>
            <a:r>
              <a:rPr lang="ro-RO" sz="1250" noProof="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izolează dependințele (TensorFlow, OpenCV) de arhitectura ARM, evitând instalarea manuală și erorile de configurare.</a:t>
            </a:r>
            <a:endParaRPr lang="ro-RO" sz="1250" noProof="0" dirty="0"/>
          </a:p>
        </p:txBody>
      </p:sp>
      <p:sp>
        <p:nvSpPr>
          <p:cNvPr id="16" name="Text 12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ro-RO" sz="1000" noProof="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E3F267-2C9E-12BD-6918-3BBC6B05E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9932" y="3026664"/>
            <a:ext cx="4474191" cy="38277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2"/>
          <p:cNvSpPr/>
          <p:nvPr/>
        </p:nvSpPr>
        <p:spPr>
          <a:xfrm>
            <a:off x="502920" y="1353312"/>
            <a:ext cx="11183112" cy="5303520"/>
          </a:xfrm>
          <a:prstGeom prst="roundRect">
            <a:avLst>
              <a:gd name="adj" fmla="val 9412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Testare live pe Jetson Nano</a:t>
            </a:r>
            <a:endParaRPr lang="ro-RO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8755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400" i="1" noProof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în timp real, direct de pe placă</a:t>
            </a:r>
            <a:endParaRPr lang="ro-RO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720090" y="1737359"/>
            <a:ext cx="3474720" cy="4754879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7" name="Shape 4"/>
          <p:cNvSpPr/>
          <p:nvPr/>
        </p:nvSpPr>
        <p:spPr>
          <a:xfrm>
            <a:off x="1860804" y="4990584"/>
            <a:ext cx="201168" cy="201168"/>
          </a:xfrm>
          <a:prstGeom prst="ellipse">
            <a:avLst/>
          </a:prstGeom>
          <a:solidFill>
            <a:srgbClr val="3AA6A0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8" name="Text 5"/>
          <p:cNvSpPr/>
          <p:nvPr/>
        </p:nvSpPr>
        <p:spPr>
          <a:xfrm>
            <a:off x="2146209" y="4925972"/>
            <a:ext cx="17670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 (0)</a:t>
            </a:r>
            <a:endParaRPr lang="ro-RO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1180719" y="5443211"/>
            <a:ext cx="2732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1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Retină fără semne clinice – clasificat corect</a:t>
            </a:r>
            <a:endParaRPr lang="ro-RO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4397121" y="1737359"/>
            <a:ext cx="3474720" cy="4754879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3" name="Shape 9"/>
          <p:cNvSpPr/>
          <p:nvPr/>
        </p:nvSpPr>
        <p:spPr>
          <a:xfrm>
            <a:off x="5620929" y="4985408"/>
            <a:ext cx="201168" cy="20116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14" name="Text 10"/>
          <p:cNvSpPr/>
          <p:nvPr/>
        </p:nvSpPr>
        <p:spPr>
          <a:xfrm>
            <a:off x="5887550" y="4923759"/>
            <a:ext cx="17670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(2)</a:t>
            </a:r>
            <a:endParaRPr lang="ro-RO" sz="1300" noProof="0" dirty="0"/>
          </a:p>
        </p:txBody>
      </p:sp>
      <p:sp>
        <p:nvSpPr>
          <p:cNvPr id="15" name="Text 11"/>
          <p:cNvSpPr/>
          <p:nvPr/>
        </p:nvSpPr>
        <p:spPr>
          <a:xfrm>
            <a:off x="5086965" y="5448216"/>
            <a:ext cx="22242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1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Microanevrisme și exsudate moderate</a:t>
            </a:r>
            <a:endParaRPr lang="ro-RO" sz="1100" noProof="0" dirty="0"/>
          </a:p>
        </p:txBody>
      </p:sp>
      <p:sp>
        <p:nvSpPr>
          <p:cNvPr id="22" name="Shape 17"/>
          <p:cNvSpPr/>
          <p:nvPr/>
        </p:nvSpPr>
        <p:spPr>
          <a:xfrm>
            <a:off x="8074152" y="1737357"/>
            <a:ext cx="3474720" cy="4754881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25" name="Shape 19"/>
          <p:cNvSpPr/>
          <p:nvPr/>
        </p:nvSpPr>
        <p:spPr>
          <a:xfrm>
            <a:off x="9395460" y="4983195"/>
            <a:ext cx="201168" cy="201168"/>
          </a:xfrm>
          <a:prstGeom prst="ellipse">
            <a:avLst/>
          </a:prstGeom>
          <a:solidFill>
            <a:srgbClr val="A62639"/>
          </a:solidFill>
          <a:ln/>
        </p:spPr>
        <p:txBody>
          <a:bodyPr/>
          <a:lstStyle/>
          <a:p>
            <a:endParaRPr lang="ro-RO" noProof="0" dirty="0"/>
          </a:p>
        </p:txBody>
      </p:sp>
      <p:sp>
        <p:nvSpPr>
          <p:cNvPr id="26" name="Text 20"/>
          <p:cNvSpPr/>
          <p:nvPr/>
        </p:nvSpPr>
        <p:spPr>
          <a:xfrm>
            <a:off x="9633204" y="4925972"/>
            <a:ext cx="17670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130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Proliferative (4)</a:t>
            </a:r>
            <a:endParaRPr lang="ro-RO" sz="1300" noProof="0" dirty="0"/>
          </a:p>
        </p:txBody>
      </p:sp>
      <p:sp>
        <p:nvSpPr>
          <p:cNvPr id="27" name="Text 21"/>
          <p:cNvSpPr/>
          <p:nvPr/>
        </p:nvSpPr>
        <p:spPr>
          <a:xfrm>
            <a:off x="9002052" y="5447153"/>
            <a:ext cx="22242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1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Neovascularizație – stadiu critic</a:t>
            </a:r>
            <a:endParaRPr lang="ro-RO" sz="1100" noProof="0" dirty="0"/>
          </a:p>
        </p:txBody>
      </p:sp>
      <p:sp>
        <p:nvSpPr>
          <p:cNvPr id="30" name="Text 24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ro-RO" sz="1000" noProof="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DEFAC7D-EA50-2D90-2380-BCC4CF0B9F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41" y="1769282"/>
            <a:ext cx="3401018" cy="2858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8556A3-5886-C4F1-3ADC-68DA1E2B7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304" y="1794630"/>
            <a:ext cx="3350355" cy="2833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9F46CF7-4E85-E029-8C02-B36554B50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801" y="1799593"/>
            <a:ext cx="3347422" cy="282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Limitări identificate</a:t>
            </a:r>
            <a:endParaRPr lang="ro-RO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02920" y="1691640"/>
            <a:ext cx="3514344" cy="416052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FCEAE7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5" name="Image 0" descr="icons/warn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093976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9748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Re-inițializare la schimbarea scenei</a:t>
            </a:r>
            <a:endParaRPr lang="ro-RO" sz="1450" noProof="0" dirty="0"/>
          </a:p>
        </p:txBody>
      </p:sp>
      <p:sp>
        <p:nvSpPr>
          <p:cNvPr id="7" name="Text 4"/>
          <p:cNvSpPr/>
          <p:nvPr/>
        </p:nvSpPr>
        <p:spPr>
          <a:xfrm>
            <a:off x="777240" y="3429000"/>
            <a:ext cx="2965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2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rămâne blocat în clasificarea precedentă dacă imaginea se schimbă fără repornirea aplicației (buffer video).</a:t>
            </a:r>
            <a:endParaRPr lang="ro-RO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4337304" y="1691640"/>
            <a:ext cx="3514344" cy="416052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9" name="Shape 6"/>
          <p:cNvSpPr/>
          <p:nvPr/>
        </p:nvSpPr>
        <p:spPr>
          <a:xfrm>
            <a:off x="4611624" y="1965960"/>
            <a:ext cx="594360" cy="594360"/>
          </a:xfrm>
          <a:prstGeom prst="ellipse">
            <a:avLst/>
          </a:prstGeom>
          <a:solidFill>
            <a:srgbClr val="FCEAE7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10" name="Image 1" descr="icons/filter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640" y="209397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1624" y="269748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Sensibilitate la iluminare</a:t>
            </a:r>
            <a:endParaRPr lang="ro-RO" sz="1450" noProof="0" dirty="0"/>
          </a:p>
        </p:txBody>
      </p:sp>
      <p:sp>
        <p:nvSpPr>
          <p:cNvPr id="12" name="Text 8"/>
          <p:cNvSpPr/>
          <p:nvPr/>
        </p:nvSpPr>
        <p:spPr>
          <a:xfrm>
            <a:off x="4611624" y="3429000"/>
            <a:ext cx="2965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2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 de accentuare interpretează reflexiile de lumină drept leziuni, generând diagnostice eronate.</a:t>
            </a:r>
            <a:endParaRPr lang="ro-RO" sz="1200" noProof="0" dirty="0"/>
          </a:p>
        </p:txBody>
      </p:sp>
      <p:sp>
        <p:nvSpPr>
          <p:cNvPr id="13" name="Shape 9"/>
          <p:cNvSpPr/>
          <p:nvPr/>
        </p:nvSpPr>
        <p:spPr>
          <a:xfrm>
            <a:off x="8171688" y="1691640"/>
            <a:ext cx="3514344" cy="416052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sp>
        <p:nvSpPr>
          <p:cNvPr id="14" name="Shape 10"/>
          <p:cNvSpPr/>
          <p:nvPr/>
        </p:nvSpPr>
        <p:spPr>
          <a:xfrm>
            <a:off x="8446008" y="1965960"/>
            <a:ext cx="594360" cy="594360"/>
          </a:xfrm>
          <a:prstGeom prst="ellipse">
            <a:avLst/>
          </a:prstGeom>
          <a:solidFill>
            <a:srgbClr val="FCEAE7"/>
          </a:solidFill>
          <a:ln/>
        </p:spPr>
        <p:txBody>
          <a:bodyPr/>
          <a:lstStyle/>
          <a:p>
            <a:endParaRPr lang="ro-RO" noProof="0" dirty="0"/>
          </a:p>
        </p:txBody>
      </p:sp>
      <p:pic>
        <p:nvPicPr>
          <p:cNvPr id="15" name="Image 2" descr="icons/char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024" y="2093976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46008" y="269748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Acuratețe sub standard clinic</a:t>
            </a:r>
            <a:endParaRPr lang="ro-RO" sz="1450" noProof="0" dirty="0"/>
          </a:p>
        </p:txBody>
      </p:sp>
      <p:sp>
        <p:nvSpPr>
          <p:cNvPr id="17" name="Text 12"/>
          <p:cNvSpPr/>
          <p:nvPr/>
        </p:nvSpPr>
        <p:spPr>
          <a:xfrm>
            <a:off x="8446008" y="3429000"/>
            <a:ext cx="2965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2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este remarcabil în condițiile date, dar insuficient pentru utilizare autonomă în practica medicală.</a:t>
            </a:r>
            <a:endParaRPr lang="ro-RO" sz="1200" noProof="0" dirty="0"/>
          </a:p>
        </p:txBody>
      </p:sp>
      <p:sp>
        <p:nvSpPr>
          <p:cNvPr id="18" name="Text 13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Direcții viitoare de dezvoltare</a:t>
            </a:r>
            <a:endParaRPr lang="ro-RO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706489" y="1760220"/>
            <a:ext cx="4657344" cy="3228436"/>
          </a:xfrm>
          <a:prstGeom prst="roundRect">
            <a:avLst>
              <a:gd name="adj" fmla="val 2667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5" name="Image 0" descr="icons/rock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4562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0216" y="1760220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Conversia la TensorflowRT</a:t>
            </a:r>
            <a:endParaRPr lang="ro-RO" sz="1450" noProof="0" dirty="0"/>
          </a:p>
        </p:txBody>
      </p:sp>
      <p:sp>
        <p:nvSpPr>
          <p:cNvPr id="7" name="Text 4"/>
          <p:cNvSpPr/>
          <p:nvPr/>
        </p:nvSpPr>
        <p:spPr>
          <a:xfrm>
            <a:off x="1353204" y="2560321"/>
            <a:ext cx="3379398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o-RO" sz="1200" noProof="0" dirty="0"/>
              <a:t>Integrarea NVIDIA TensorRT pentru optimizarea rețelei convoluționale. Conversia modelului EfficientNetB0 în format cuantizat (FP16/INT8) pentru reducerea latenței cadrelor în fluxul video live. Odata ce se va face conversia vom avea mai multe FPS ceea ce va rezulta o interfață grafică mai fluidă.</a:t>
            </a:r>
          </a:p>
        </p:txBody>
      </p:sp>
      <p:sp>
        <p:nvSpPr>
          <p:cNvPr id="8" name="Shape 5"/>
          <p:cNvSpPr/>
          <p:nvPr/>
        </p:nvSpPr>
        <p:spPr>
          <a:xfrm>
            <a:off x="6310079" y="1760220"/>
            <a:ext cx="5070434" cy="3205576"/>
          </a:xfrm>
          <a:prstGeom prst="roundRect">
            <a:avLst>
              <a:gd name="adj" fmla="val 2667"/>
            </a:avLst>
          </a:prstGeom>
          <a:solidFill>
            <a:srgbClr val="E4F1F0"/>
          </a:solidFill>
          <a:ln/>
          <a:effectLst>
            <a:outerShdw blurRad="101600" dist="38100" dir="5400000" algn="bl" rotWithShape="0">
              <a:srgbClr val="0B2545">
                <a:alpha val="8000"/>
              </a:srgbClr>
            </a:outerShdw>
          </a:effectLst>
        </p:spPr>
        <p:txBody>
          <a:bodyPr/>
          <a:lstStyle/>
          <a:p>
            <a:endParaRPr lang="ro-RO" noProof="0" dirty="0"/>
          </a:p>
        </p:txBody>
      </p:sp>
      <p:pic>
        <p:nvPicPr>
          <p:cNvPr id="9" name="Image 1" descr="icons/lay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144" y="18973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68945" y="1740811"/>
            <a:ext cx="2874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o-RO" sz="1450" b="1" noProof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ro-RO" sz="1450" noProof="0" dirty="0"/>
          </a:p>
        </p:txBody>
      </p:sp>
      <p:sp>
        <p:nvSpPr>
          <p:cNvPr id="11" name="Text 7"/>
          <p:cNvSpPr/>
          <p:nvPr/>
        </p:nvSpPr>
        <p:spPr>
          <a:xfrm>
            <a:off x="7408164" y="3200400"/>
            <a:ext cx="2874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200" noProof="0" dirty="0"/>
              <a:t>Se poate asigura o accesibilitate la distantă pentru utilizatori prin migrarea aplicatiei pe un site web utilizand serviciile Microsoft Azure cu subscripția de student.</a:t>
            </a:r>
          </a:p>
        </p:txBody>
      </p:sp>
      <p:sp>
        <p:nvSpPr>
          <p:cNvPr id="17" name="Text 12"/>
          <p:cNvSpPr/>
          <p:nvPr/>
        </p:nvSpPr>
        <p:spPr>
          <a:xfrm>
            <a:off x="822960" y="470916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ro-RO" sz="15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 final: transformarea prototipului într-un instrument de screening rapid, capabil să analizeze fluxul video instantaneu, fără întreruperi.</a:t>
            </a:r>
            <a:endParaRPr lang="ro-RO" sz="1500" noProof="0" dirty="0"/>
          </a:p>
        </p:txBody>
      </p:sp>
      <p:sp>
        <p:nvSpPr>
          <p:cNvPr id="18" name="Text 13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ro-RO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o-RO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Concluzii</a:t>
            </a:r>
            <a:endParaRPr lang="ro-RO" sz="3000" noProof="0" dirty="0"/>
          </a:p>
        </p:txBody>
      </p:sp>
      <p:sp>
        <p:nvSpPr>
          <p:cNvPr id="5" name="Text 2"/>
          <p:cNvSpPr/>
          <p:nvPr/>
        </p:nvSpPr>
        <p:spPr>
          <a:xfrm>
            <a:off x="1188720" y="17373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EfficientNetB0 + Transfer Learning – 67% acuratețe pe 5 stadii de severitate</a:t>
            </a:r>
            <a:endParaRPr lang="ro-RO" sz="1600" noProof="0" dirty="0"/>
          </a:p>
        </p:txBody>
      </p:sp>
      <p:sp>
        <p:nvSpPr>
          <p:cNvPr id="8" name="Text 4"/>
          <p:cNvSpPr/>
          <p:nvPr/>
        </p:nvSpPr>
        <p:spPr>
          <a:xfrm>
            <a:off x="1188720" y="2697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Preprocesarea prin accentuarea detaliilor a fost decisivă pentru performanță (52% → 67%)</a:t>
            </a:r>
            <a:endParaRPr lang="ro-RO" sz="1600" noProof="0" dirty="0"/>
          </a:p>
        </p:txBody>
      </p:sp>
      <p:sp>
        <p:nvSpPr>
          <p:cNvPr id="11" name="Text 6"/>
          <p:cNvSpPr/>
          <p:nvPr/>
        </p:nvSpPr>
        <p:spPr>
          <a:xfrm>
            <a:off x="1188720" y="3657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complet funcțional, implementat și testat pe NVIDIA Jetson Nano prin Docker</a:t>
            </a:r>
            <a:endParaRPr lang="ro-RO" sz="1600" noProof="0" dirty="0"/>
          </a:p>
        </p:txBody>
      </p:sp>
      <p:sp>
        <p:nvSpPr>
          <p:cNvPr id="14" name="Text 8"/>
          <p:cNvSpPr/>
          <p:nvPr/>
        </p:nvSpPr>
        <p:spPr>
          <a:xfrm>
            <a:off x="1188720" y="46177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ro-RO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Soluție portabilă si ieftină</a:t>
            </a:r>
            <a:endParaRPr lang="ro-RO" sz="1600" noProof="0" dirty="0"/>
          </a:p>
        </p:txBody>
      </p:sp>
      <p:sp>
        <p:nvSpPr>
          <p:cNvPr id="16" name="Text 10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o-RO" sz="1000" noProof="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ro-RO" sz="1000" noProof="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4A4CFEB-9F56-A37D-36C1-A8A595DB1D2E}"/>
              </a:ext>
            </a:extLst>
          </p:cNvPr>
          <p:cNvSpPr/>
          <p:nvPr/>
        </p:nvSpPr>
        <p:spPr>
          <a:xfrm>
            <a:off x="502920" y="2035402"/>
            <a:ext cx="351095" cy="181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FD3C08E-12D0-0825-5E2A-D1B2DD149A25}"/>
              </a:ext>
            </a:extLst>
          </p:cNvPr>
          <p:cNvSpPr/>
          <p:nvPr/>
        </p:nvSpPr>
        <p:spPr>
          <a:xfrm>
            <a:off x="502919" y="2995522"/>
            <a:ext cx="351095" cy="181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5A1476AD-A18B-25D0-328F-C86EEDE89D4E}"/>
              </a:ext>
            </a:extLst>
          </p:cNvPr>
          <p:cNvSpPr/>
          <p:nvPr/>
        </p:nvSpPr>
        <p:spPr>
          <a:xfrm>
            <a:off x="502918" y="3955642"/>
            <a:ext cx="351095" cy="181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6AD8969-DF79-CE16-BDC8-66CE26CD2F14}"/>
              </a:ext>
            </a:extLst>
          </p:cNvPr>
          <p:cNvSpPr/>
          <p:nvPr/>
        </p:nvSpPr>
        <p:spPr>
          <a:xfrm>
            <a:off x="502917" y="4915762"/>
            <a:ext cx="351095" cy="181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1080</Words>
  <Application>Microsoft Office PowerPoint</Application>
  <PresentationFormat>Widescreen</PresentationFormat>
  <Paragraphs>175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Clasificarea stadiilor retinopatiei diabetice folosind Machine Learning</dc:title>
  <dc:subject>PptxGenJS Presentation</dc:subject>
  <dc:creator>Bîrsan Lucian</dc:creator>
  <cp:lastModifiedBy>Fecioru .</cp:lastModifiedBy>
  <cp:revision>13</cp:revision>
  <dcterms:created xsi:type="dcterms:W3CDTF">2026-07-06T20:09:46Z</dcterms:created>
  <dcterms:modified xsi:type="dcterms:W3CDTF">2026-07-07T13:28:38Z</dcterms:modified>
</cp:coreProperties>
</file>